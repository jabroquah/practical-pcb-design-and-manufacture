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62B4C4-60BE-4E18-A07F-0AD9BB0AE5CB}" v="53" dt="2025-10-04T00:49:30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Abroquah" userId="d13c2c26-2cdf-4ecc-95a2-de6454f49757" providerId="ADAL" clId="{7AECC6F4-6663-4250-8BDB-DF2849F45582}"/>
    <pc:docChg chg="undo custSel modSld">
      <pc:chgData name="Joseph Abroquah" userId="d13c2c26-2cdf-4ecc-95a2-de6454f49757" providerId="ADAL" clId="{7AECC6F4-6663-4250-8BDB-DF2849F45582}" dt="2025-10-04T00:49:30.890" v="62" actId="6549"/>
      <pc:docMkLst>
        <pc:docMk/>
      </pc:docMkLst>
      <pc:sldChg chg="modSp mod">
        <pc:chgData name="Joseph Abroquah" userId="d13c2c26-2cdf-4ecc-95a2-de6454f49757" providerId="ADAL" clId="{7AECC6F4-6663-4250-8BDB-DF2849F45582}" dt="2025-10-04T00:49:30.890" v="62" actId="6549"/>
        <pc:sldMkLst>
          <pc:docMk/>
          <pc:sldMk cId="233755729" sldId="261"/>
        </pc:sldMkLst>
        <pc:spChg chg="mod">
          <ac:chgData name="Joseph Abroquah" userId="d13c2c26-2cdf-4ecc-95a2-de6454f49757" providerId="ADAL" clId="{7AECC6F4-6663-4250-8BDB-DF2849F45582}" dt="2025-10-04T00:38:03.304" v="13" actId="20577"/>
          <ac:spMkLst>
            <pc:docMk/>
            <pc:sldMk cId="233755729" sldId="261"/>
            <ac:spMk id="12" creationId="{F0487004-3124-ED7A-4B13-5FAE8A398BD1}"/>
          </ac:spMkLst>
        </pc:spChg>
        <pc:spChg chg="mod">
          <ac:chgData name="Joseph Abroquah" userId="d13c2c26-2cdf-4ecc-95a2-de6454f49757" providerId="ADAL" clId="{7AECC6F4-6663-4250-8BDB-DF2849F45582}" dt="2025-10-04T00:40:55.082" v="46" actId="1076"/>
          <ac:spMkLst>
            <pc:docMk/>
            <pc:sldMk cId="233755729" sldId="261"/>
            <ac:spMk id="13" creationId="{7DBA999B-C125-8AB2-55E6-A195823B803B}"/>
          </ac:spMkLst>
        </pc:spChg>
        <pc:spChg chg="mod">
          <ac:chgData name="Joseph Abroquah" userId="d13c2c26-2cdf-4ecc-95a2-de6454f49757" providerId="ADAL" clId="{7AECC6F4-6663-4250-8BDB-DF2849F45582}" dt="2025-10-04T00:40:57.805" v="48" actId="20577"/>
          <ac:spMkLst>
            <pc:docMk/>
            <pc:sldMk cId="233755729" sldId="261"/>
            <ac:spMk id="28" creationId="{2B3C916B-D51A-9FAE-1EF0-8E8CD12DF646}"/>
          </ac:spMkLst>
        </pc:spChg>
        <pc:spChg chg="mod">
          <ac:chgData name="Joseph Abroquah" userId="d13c2c26-2cdf-4ecc-95a2-de6454f49757" providerId="ADAL" clId="{7AECC6F4-6663-4250-8BDB-DF2849F45582}" dt="2025-10-04T00:49:30.890" v="62" actId="6549"/>
          <ac:spMkLst>
            <pc:docMk/>
            <pc:sldMk cId="233755729" sldId="261"/>
            <ac:spMk id="30" creationId="{F74F6A8B-3C74-DA12-3279-E8FA76DE8813}"/>
          </ac:spMkLst>
        </pc:spChg>
        <pc:graphicFrameChg chg="modGraphic">
          <ac:chgData name="Joseph Abroquah" userId="d13c2c26-2cdf-4ecc-95a2-de6454f49757" providerId="ADAL" clId="{7AECC6F4-6663-4250-8BDB-DF2849F45582}" dt="2025-10-04T00:38:34.323" v="22" actId="20577"/>
          <ac:graphicFrameMkLst>
            <pc:docMk/>
            <pc:sldMk cId="233755729" sldId="261"/>
            <ac:graphicFrameMk id="3" creationId="{15FD34ED-ACAD-6E73-F7A4-44501F6BACB6}"/>
          </ac:graphicFrameMkLst>
        </pc:graphicFrameChg>
        <pc:graphicFrameChg chg="modGraphic">
          <ac:chgData name="Joseph Abroquah" userId="d13c2c26-2cdf-4ecc-95a2-de6454f49757" providerId="ADAL" clId="{7AECC6F4-6663-4250-8BDB-DF2849F45582}" dt="2025-10-04T00:38:30.704" v="20" actId="20577"/>
          <ac:graphicFrameMkLst>
            <pc:docMk/>
            <pc:sldMk cId="233755729" sldId="261"/>
            <ac:graphicFrameMk id="4" creationId="{82372512-E18B-0F7A-6956-9A77562482A5}"/>
          </ac:graphicFrameMkLst>
        </pc:graphicFrameChg>
        <pc:graphicFrameChg chg="modGraphic">
          <ac:chgData name="Joseph Abroquah" userId="d13c2c26-2cdf-4ecc-95a2-de6454f49757" providerId="ADAL" clId="{7AECC6F4-6663-4250-8BDB-DF2849F45582}" dt="2025-10-04T00:38:38.087" v="24" actId="20577"/>
          <ac:graphicFrameMkLst>
            <pc:docMk/>
            <pc:sldMk cId="233755729" sldId="261"/>
            <ac:graphicFrameMk id="5" creationId="{3B750DDE-E44A-DD69-BD62-D0411930B20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4575-FB9C-5F59-BD62-F3B998532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1851D-FF54-8EAA-433D-618D271D2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E78CC-F46A-FBF2-F5E8-0DD1940F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4F9C2-AF41-F836-C3A6-0E485201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5B1B5-E57F-FF0B-D356-EFDF67791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2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0C4E-3EEF-E4E6-C665-FFF48D69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EF8A8-A383-1067-B9B9-033FB43A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30599-5A4D-7B6A-C618-481F7C6A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ADD4B-42E1-B1FB-1D42-85ABE351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C81B6-BF3B-CAFF-2685-ED346527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0629-640D-6EB3-B427-BF009A7A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1B73F-614D-D3A8-4BF5-FE04221AD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5472D-E9DC-5DFC-4892-590CB08B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7431C-F7E5-ECAE-B76E-47CA05C7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888D0-9A44-5388-E8EA-4BC48883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CC2F-C555-1F12-782F-36382E2E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3E054-4CF8-5E78-BD58-553B1A20A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72309-7401-D902-62AB-99B91568D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73834-0B87-73C7-E42D-1F69267C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91E08-5A88-A4EB-D375-3AD51C10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9AB1A-AADA-B181-5CF0-389D372B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7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592ED-FE74-FB99-A820-E5E71F22A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9C23-DD46-853A-B765-E30A0BA43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81773-56E5-EC47-C3C7-615E84819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B7FB2-8727-C4B7-E7E2-0FB88214B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A1DDB1-3B36-9CF7-BBB0-B5409B016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CAE41-E448-DD63-D3FC-758CA006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9CC838-F1DE-675E-7185-FF0A8C93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84E138-6E07-F03F-C422-ACD08468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2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A663-DC70-8CB6-D36F-6CD48DE32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73564-87CD-B05F-4065-A146263B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0A3B4-7C63-CD00-9ADE-C569A8F7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92ACD-9ABD-79A2-2B06-65383AA8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7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AFD614-66FF-3BF8-B82D-2AF5184D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90530-701B-AA54-2963-4C339ADB5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73E6A-1B1A-8282-DA86-685489D8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52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7FCB9-4615-54D1-813D-D54FBB73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CD2F-9A19-13E5-9150-902E46575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0148E-2125-3A38-E60F-D865944DD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3AF34-5168-AEA1-F524-1C0B7374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9014E-8BB9-2CFA-2E49-5AF4698F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68E04-A394-2221-A9E5-EC0C7A1E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8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4107-5DAE-8AE4-294D-FCCD2BE2A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8A804-9FF4-C305-7814-8A535D6D6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00927-6F7A-B2B0-F91C-104ED122F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F0EB8-E746-05B2-99C0-875A85D2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8A1FF-4543-6E34-C65A-B1CAE341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AA093-FD01-3F37-8884-4EA8205B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8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90E6-3457-78AD-E8D8-814695DA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595C8-8A77-8687-9E30-2DE86522A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4FBA1-0A1D-9E26-6E5B-C527FEA8F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B9C73-AFE9-8E87-E851-5D937784D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E6466-2659-00E1-D908-0B1E3EC9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80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50880-CE94-58E4-135E-9CEC68506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CCB50-40DF-3DB9-42C5-23F6B0D45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AD90C-1BCE-7268-891D-C916A598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E9C52-79C7-AA77-8727-42725F81A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1ED67-5F2C-8211-817D-79ED98E7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4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42FA86-1E14-68C7-80EA-869334B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7846D-FE29-54B6-9ACC-D88D45556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38161-E4FA-E4A6-47FA-00A975EDA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4B094-7078-497B-B5B9-5D504570C2B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03709-EF1A-5FD3-4CDB-0D0C46F10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FC11F-473C-31CF-1197-59531EA2D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9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2BE9B-AD26-B9F1-5256-5E80B0AC4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Lab 15 Findings</a:t>
            </a:r>
            <a:br>
              <a:rPr lang="en-US" sz="3600" dirty="0"/>
            </a:br>
            <a:r>
              <a:rPr lang="en-US" sz="3600" dirty="0"/>
              <a:t>Joseph Abroquah</a:t>
            </a:r>
            <a:br>
              <a:rPr lang="en-US" sz="3600" dirty="0"/>
            </a:br>
            <a:r>
              <a:rPr lang="en-US" sz="3600" dirty="0"/>
              <a:t>Data Collected: 10/03/2025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49CF5-CF55-6022-FF40-90810E5FF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4997"/>
            <a:ext cx="7038252" cy="3231965"/>
          </a:xfrm>
        </p:spPr>
        <p:txBody>
          <a:bodyPr/>
          <a:lstStyle/>
          <a:p>
            <a:r>
              <a:rPr lang="en-US" u="sng" dirty="0"/>
              <a:t>Quality Metric</a:t>
            </a:r>
            <a:r>
              <a:rPr lang="en-US" dirty="0"/>
              <a:t>: Compare the rise/fall times as well as the rail collapse of each of the three blocks</a:t>
            </a:r>
          </a:p>
          <a:p>
            <a:pPr lvl="1"/>
            <a:r>
              <a:rPr lang="en-US" dirty="0"/>
              <a:t>Good = Close decoupling, solid return plane</a:t>
            </a:r>
          </a:p>
          <a:p>
            <a:pPr lvl="1"/>
            <a:r>
              <a:rPr lang="en-US" dirty="0"/>
              <a:t>Bad Cap = Far decoupling, solid return plane</a:t>
            </a:r>
          </a:p>
          <a:p>
            <a:pPr lvl="1"/>
            <a:r>
              <a:rPr lang="en-US" dirty="0"/>
              <a:t>Bad </a:t>
            </a:r>
            <a:r>
              <a:rPr lang="en-US" dirty="0" err="1"/>
              <a:t>Bad</a:t>
            </a:r>
            <a:r>
              <a:rPr lang="en-US" dirty="0"/>
              <a:t> = Far decoupling, no return plane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2B9E4-E205-E863-9051-6C64913145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76452" y="2944998"/>
            <a:ext cx="4315548" cy="374956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53650A-EFB0-74E2-E94B-727B25044C12}"/>
              </a:ext>
            </a:extLst>
          </p:cNvPr>
          <p:cNvSpPr txBox="1">
            <a:spLocks/>
          </p:cNvSpPr>
          <p:nvPr/>
        </p:nvSpPr>
        <p:spPr>
          <a:xfrm>
            <a:off x="771985" y="1545021"/>
            <a:ext cx="10515600" cy="1476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/>
              <a:t>Goal</a:t>
            </a:r>
            <a:r>
              <a:rPr lang="en-US" dirty="0"/>
              <a:t>:  Compare 3 identical circuits but with different layouts rules to quantify the impacts of decoupling and return plane design rules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39AFC-FA34-E866-09C2-0D3FC63ED793}"/>
              </a:ext>
            </a:extLst>
          </p:cNvPr>
          <p:cNvSpPr/>
          <p:nvPr/>
        </p:nvSpPr>
        <p:spPr>
          <a:xfrm>
            <a:off x="7118058" y="5578679"/>
            <a:ext cx="616591" cy="5410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Bad </a:t>
            </a:r>
            <a:r>
              <a:rPr lang="en-US" sz="1200" dirty="0" err="1">
                <a:solidFill>
                  <a:sysClr val="windowText" lastClr="000000"/>
                </a:solidFill>
              </a:rPr>
              <a:t>Bad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7739D4-4FD4-3934-9E96-C464FE98F4F7}"/>
              </a:ext>
            </a:extLst>
          </p:cNvPr>
          <p:cNvSpPr/>
          <p:nvPr/>
        </p:nvSpPr>
        <p:spPr>
          <a:xfrm>
            <a:off x="7118057" y="6119769"/>
            <a:ext cx="616591" cy="5410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Bad Cap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CF76F4-8C25-D9C9-0EE0-C543D80B8D00}"/>
              </a:ext>
            </a:extLst>
          </p:cNvPr>
          <p:cNvSpPr/>
          <p:nvPr/>
        </p:nvSpPr>
        <p:spPr>
          <a:xfrm>
            <a:off x="6501465" y="6119769"/>
            <a:ext cx="616591" cy="5410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Good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A96D32-0608-8A77-94E7-ED390E11F6B4}"/>
              </a:ext>
            </a:extLst>
          </p:cNvPr>
          <p:cNvSpPr/>
          <p:nvPr/>
        </p:nvSpPr>
        <p:spPr>
          <a:xfrm>
            <a:off x="6501465" y="5578679"/>
            <a:ext cx="616591" cy="5410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555 clock</a:t>
            </a:r>
          </a:p>
        </p:txBody>
      </p:sp>
    </p:spTree>
    <p:extLst>
      <p:ext uri="{BB962C8B-B14F-4D97-AF65-F5344CB8AC3E}">
        <p14:creationId xmlns:p14="http://schemas.microsoft.com/office/powerpoint/2010/main" val="3726653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2BE9B-AD26-B9F1-5256-5E80B0AC4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638"/>
            <a:ext cx="10515600" cy="1325563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49CF5-CF55-6022-FF40-90810E5FF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021"/>
            <a:ext cx="6621142" cy="4631941"/>
          </a:xfrm>
        </p:spPr>
        <p:txBody>
          <a:bodyPr/>
          <a:lstStyle/>
          <a:p>
            <a:r>
              <a:rPr lang="en-US" dirty="0"/>
              <a:t>Data collection during clock switching</a:t>
            </a:r>
          </a:p>
          <a:p>
            <a:pPr lvl="1"/>
            <a:r>
              <a:rPr lang="en-US" dirty="0"/>
              <a:t>Rise time</a:t>
            </a:r>
          </a:p>
          <a:p>
            <a:pPr lvl="1"/>
            <a:r>
              <a:rPr lang="en-US" dirty="0"/>
              <a:t>Fall time</a:t>
            </a:r>
          </a:p>
          <a:p>
            <a:pPr lvl="1"/>
            <a:r>
              <a:rPr lang="en-US" dirty="0"/>
              <a:t>Peak – Peak value</a:t>
            </a:r>
          </a:p>
          <a:p>
            <a:r>
              <a:rPr lang="en-US" dirty="0"/>
              <a:t>Performance comparison between different design practices in terms of collected data was carried out and result is shown on next slide</a:t>
            </a:r>
          </a:p>
          <a:p>
            <a:r>
              <a:rPr lang="en-US" dirty="0"/>
              <a:t>Key Message: Identical circuit designs perform badly when good design practices are violated</a:t>
            </a:r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37B80E-0737-F2A4-63F1-988FD38CE7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67"/>
          <a:stretch/>
        </p:blipFill>
        <p:spPr>
          <a:xfrm>
            <a:off x="8243664" y="1473634"/>
            <a:ext cx="3567512" cy="359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26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 descr="A screen shot of a graph&#10;&#10;AI-generated content may be incorrect.">
            <a:extLst>
              <a:ext uri="{FF2B5EF4-FFF2-40B4-BE49-F238E27FC236}">
                <a16:creationId xmlns:a16="http://schemas.microsoft.com/office/drawing/2014/main" id="{D98EE3D6-9145-3DCC-DA8A-30505B2B8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56" y="4263871"/>
            <a:ext cx="4000500" cy="2560320"/>
          </a:xfrm>
          <a:prstGeom prst="rect">
            <a:avLst/>
          </a:prstGeom>
        </p:spPr>
      </p:pic>
      <p:pic>
        <p:nvPicPr>
          <p:cNvPr id="45" name="Picture 44" descr="A screen shot of a graph&#10;&#10;AI-generated content may be incorrect.">
            <a:extLst>
              <a:ext uri="{FF2B5EF4-FFF2-40B4-BE49-F238E27FC236}">
                <a16:creationId xmlns:a16="http://schemas.microsoft.com/office/drawing/2014/main" id="{AF821FF7-DFFD-64F2-E3CB-B73E771C6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170" y="1692018"/>
            <a:ext cx="4000500" cy="2560320"/>
          </a:xfrm>
          <a:prstGeom prst="rect">
            <a:avLst/>
          </a:prstGeom>
        </p:spPr>
      </p:pic>
      <p:pic>
        <p:nvPicPr>
          <p:cNvPr id="40" name="Picture 39" descr="A screen shot of a graph&#10;&#10;AI-generated content may be incorrect.">
            <a:extLst>
              <a:ext uri="{FF2B5EF4-FFF2-40B4-BE49-F238E27FC236}">
                <a16:creationId xmlns:a16="http://schemas.microsoft.com/office/drawing/2014/main" id="{0C244519-2E6D-3241-6804-AF5BEA1F8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279" y="1695055"/>
            <a:ext cx="4000500" cy="2560320"/>
          </a:xfrm>
          <a:prstGeom prst="rect">
            <a:avLst/>
          </a:prstGeom>
        </p:spPr>
      </p:pic>
      <p:pic>
        <p:nvPicPr>
          <p:cNvPr id="42" name="Picture 41" descr="A screen shot of a graph&#10;&#10;AI-generated content may be incorrect.">
            <a:extLst>
              <a:ext uri="{FF2B5EF4-FFF2-40B4-BE49-F238E27FC236}">
                <a16:creationId xmlns:a16="http://schemas.microsoft.com/office/drawing/2014/main" id="{8AFCB972-6413-B076-89E9-CBCA3FA3D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086" y="4271119"/>
            <a:ext cx="4000500" cy="2560320"/>
          </a:xfrm>
          <a:prstGeom prst="rect">
            <a:avLst/>
          </a:prstGeom>
        </p:spPr>
      </p:pic>
      <p:pic>
        <p:nvPicPr>
          <p:cNvPr id="38" name="Picture 37" descr="A screen shot of a graph&#10;&#10;AI-generated content may be incorrect.">
            <a:extLst>
              <a:ext uri="{FF2B5EF4-FFF2-40B4-BE49-F238E27FC236}">
                <a16:creationId xmlns:a16="http://schemas.microsoft.com/office/drawing/2014/main" id="{33E363F4-F7D9-CB81-BE17-11D3D1F858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9" y="1699164"/>
            <a:ext cx="4000500" cy="2560320"/>
          </a:xfrm>
          <a:prstGeom prst="rect">
            <a:avLst/>
          </a:prstGeom>
        </p:spPr>
      </p:pic>
      <p:pic>
        <p:nvPicPr>
          <p:cNvPr id="35" name="Picture 34" descr="A screen shot of a graph&#10;&#10;AI-generated content may be incorrect.">
            <a:extLst>
              <a:ext uri="{FF2B5EF4-FFF2-40B4-BE49-F238E27FC236}">
                <a16:creationId xmlns:a16="http://schemas.microsoft.com/office/drawing/2014/main" id="{17D7F0FC-9D6C-A046-9D93-EC6B8FA3A9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5" y="4278368"/>
            <a:ext cx="3977848" cy="254582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17CEA35-7A25-CD8E-5002-DAEE65841C70}"/>
              </a:ext>
            </a:extLst>
          </p:cNvPr>
          <p:cNvSpPr/>
          <p:nvPr/>
        </p:nvSpPr>
        <p:spPr>
          <a:xfrm>
            <a:off x="630056" y="19447"/>
            <a:ext cx="616591" cy="54109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Bad </a:t>
            </a:r>
            <a:r>
              <a:rPr lang="en-US" sz="1200" dirty="0" err="1">
                <a:solidFill>
                  <a:sysClr val="windowText" lastClr="000000"/>
                </a:solidFill>
              </a:rPr>
              <a:t>Bad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5CA7F9-E26D-3FCD-023A-A64EAC45E373}"/>
              </a:ext>
            </a:extLst>
          </p:cNvPr>
          <p:cNvSpPr/>
          <p:nvPr/>
        </p:nvSpPr>
        <p:spPr>
          <a:xfrm>
            <a:off x="630055" y="560537"/>
            <a:ext cx="616591" cy="54109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Bad Cap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9BC3BB-28CC-2BDF-6300-EF04AC67B5FB}"/>
              </a:ext>
            </a:extLst>
          </p:cNvPr>
          <p:cNvSpPr/>
          <p:nvPr/>
        </p:nvSpPr>
        <p:spPr>
          <a:xfrm>
            <a:off x="13463" y="560537"/>
            <a:ext cx="616591" cy="5410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Good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55A9A9-9A2B-E7CD-1F2D-7381BBA06E5D}"/>
              </a:ext>
            </a:extLst>
          </p:cNvPr>
          <p:cNvSpPr/>
          <p:nvPr/>
        </p:nvSpPr>
        <p:spPr>
          <a:xfrm>
            <a:off x="13463" y="19447"/>
            <a:ext cx="616591" cy="54109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555 clock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0DF2B8-1663-E3A7-790B-A8A4BE91B6B5}"/>
              </a:ext>
            </a:extLst>
          </p:cNvPr>
          <p:cNvSpPr/>
          <p:nvPr/>
        </p:nvSpPr>
        <p:spPr>
          <a:xfrm>
            <a:off x="4707554" y="13622"/>
            <a:ext cx="616591" cy="54109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Bad </a:t>
            </a:r>
            <a:r>
              <a:rPr lang="en-US" sz="1200" dirty="0" err="1">
                <a:solidFill>
                  <a:sysClr val="windowText" lastClr="000000"/>
                </a:solidFill>
              </a:rPr>
              <a:t>Bad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EDB2BD-CE4C-D468-6F8D-E6DD09927ECC}"/>
              </a:ext>
            </a:extLst>
          </p:cNvPr>
          <p:cNvSpPr/>
          <p:nvPr/>
        </p:nvSpPr>
        <p:spPr>
          <a:xfrm>
            <a:off x="4707553" y="554712"/>
            <a:ext cx="616591" cy="5410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Bad Cap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314817-3107-E6FD-AF69-CA3EC84E30FC}"/>
              </a:ext>
            </a:extLst>
          </p:cNvPr>
          <p:cNvSpPr/>
          <p:nvPr/>
        </p:nvSpPr>
        <p:spPr>
          <a:xfrm>
            <a:off x="4090961" y="554712"/>
            <a:ext cx="616591" cy="54109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Good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9B5103-C811-B949-6496-A877376DEDD1}"/>
              </a:ext>
            </a:extLst>
          </p:cNvPr>
          <p:cNvSpPr/>
          <p:nvPr/>
        </p:nvSpPr>
        <p:spPr>
          <a:xfrm>
            <a:off x="4090961" y="13622"/>
            <a:ext cx="616591" cy="54109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555 clock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FC724F-C13B-5292-C179-0D1859EA2D78}"/>
              </a:ext>
            </a:extLst>
          </p:cNvPr>
          <p:cNvSpPr/>
          <p:nvPr/>
        </p:nvSpPr>
        <p:spPr>
          <a:xfrm>
            <a:off x="8761124" y="13622"/>
            <a:ext cx="616591" cy="5410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Bad </a:t>
            </a:r>
            <a:r>
              <a:rPr lang="en-US" sz="1200" dirty="0" err="1">
                <a:solidFill>
                  <a:sysClr val="windowText" lastClr="000000"/>
                </a:solidFill>
              </a:rPr>
              <a:t>Bad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D08D70-9B0E-C4CD-9578-1DEFEF62A951}"/>
              </a:ext>
            </a:extLst>
          </p:cNvPr>
          <p:cNvSpPr/>
          <p:nvPr/>
        </p:nvSpPr>
        <p:spPr>
          <a:xfrm>
            <a:off x="8761123" y="554712"/>
            <a:ext cx="616591" cy="54109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Bad Cap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4BCA448-B35E-EFEF-F623-D23CAF8EBBF8}"/>
              </a:ext>
            </a:extLst>
          </p:cNvPr>
          <p:cNvSpPr/>
          <p:nvPr/>
        </p:nvSpPr>
        <p:spPr>
          <a:xfrm>
            <a:off x="8144531" y="554712"/>
            <a:ext cx="616591" cy="54109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Good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B95FBA-5B86-1F69-E0DB-2C74ED7B560F}"/>
              </a:ext>
            </a:extLst>
          </p:cNvPr>
          <p:cNvSpPr/>
          <p:nvPr/>
        </p:nvSpPr>
        <p:spPr>
          <a:xfrm>
            <a:off x="8144531" y="13622"/>
            <a:ext cx="616591" cy="54109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555 clock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FD34ED-ACAD-6E73-F7A4-44501F6BA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71388"/>
              </p:ext>
            </p:extLst>
          </p:nvPr>
        </p:nvGraphicFramePr>
        <p:xfrm>
          <a:off x="1288829" y="13623"/>
          <a:ext cx="2731084" cy="12243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2771">
                  <a:extLst>
                    <a:ext uri="{9D8B030D-6E8A-4147-A177-3AD203B41FA5}">
                      <a16:colId xmlns:a16="http://schemas.microsoft.com/office/drawing/2014/main" val="1781307994"/>
                    </a:ext>
                  </a:extLst>
                </a:gridCol>
                <a:gridCol w="682771">
                  <a:extLst>
                    <a:ext uri="{9D8B030D-6E8A-4147-A177-3AD203B41FA5}">
                      <a16:colId xmlns:a16="http://schemas.microsoft.com/office/drawing/2014/main" val="2883881419"/>
                    </a:ext>
                  </a:extLst>
                </a:gridCol>
                <a:gridCol w="682771">
                  <a:extLst>
                    <a:ext uri="{9D8B030D-6E8A-4147-A177-3AD203B41FA5}">
                      <a16:colId xmlns:a16="http://schemas.microsoft.com/office/drawing/2014/main" val="500946811"/>
                    </a:ext>
                  </a:extLst>
                </a:gridCol>
                <a:gridCol w="682771">
                  <a:extLst>
                    <a:ext uri="{9D8B030D-6E8A-4147-A177-3AD203B41FA5}">
                      <a16:colId xmlns:a16="http://schemas.microsoft.com/office/drawing/2014/main" val="3420263580"/>
                    </a:ext>
                  </a:extLst>
                </a:gridCol>
              </a:tblGrid>
              <a:tr h="294823"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Rising Edge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Falling Edge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773408"/>
                  </a:ext>
                </a:extLst>
              </a:tr>
              <a:tr h="445083">
                <a:tc>
                  <a:txBody>
                    <a:bodyPr/>
                    <a:lstStyle/>
                    <a:p>
                      <a:r>
                        <a:rPr lang="en-US" sz="1400" dirty="0"/>
                        <a:t>RT (ns)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P2P (mV)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FT (ns)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P2P (mV)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22140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r>
                        <a:rPr lang="en-US" sz="1400" dirty="0"/>
                        <a:t>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210.9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90984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372512-E18B-0F7A-6956-9A7756248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984061"/>
              </p:ext>
            </p:extLst>
          </p:nvPr>
        </p:nvGraphicFramePr>
        <p:xfrm>
          <a:off x="5368796" y="13622"/>
          <a:ext cx="2731084" cy="12243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2771">
                  <a:extLst>
                    <a:ext uri="{9D8B030D-6E8A-4147-A177-3AD203B41FA5}">
                      <a16:colId xmlns:a16="http://schemas.microsoft.com/office/drawing/2014/main" val="1781307994"/>
                    </a:ext>
                  </a:extLst>
                </a:gridCol>
                <a:gridCol w="682771">
                  <a:extLst>
                    <a:ext uri="{9D8B030D-6E8A-4147-A177-3AD203B41FA5}">
                      <a16:colId xmlns:a16="http://schemas.microsoft.com/office/drawing/2014/main" val="2883881419"/>
                    </a:ext>
                  </a:extLst>
                </a:gridCol>
                <a:gridCol w="682771">
                  <a:extLst>
                    <a:ext uri="{9D8B030D-6E8A-4147-A177-3AD203B41FA5}">
                      <a16:colId xmlns:a16="http://schemas.microsoft.com/office/drawing/2014/main" val="500946811"/>
                    </a:ext>
                  </a:extLst>
                </a:gridCol>
                <a:gridCol w="682771">
                  <a:extLst>
                    <a:ext uri="{9D8B030D-6E8A-4147-A177-3AD203B41FA5}">
                      <a16:colId xmlns:a16="http://schemas.microsoft.com/office/drawing/2014/main" val="3420263580"/>
                    </a:ext>
                  </a:extLst>
                </a:gridCol>
              </a:tblGrid>
              <a:tr h="294823"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Rising Edge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Falling Edge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773408"/>
                  </a:ext>
                </a:extLst>
              </a:tr>
              <a:tr h="445083">
                <a:tc>
                  <a:txBody>
                    <a:bodyPr/>
                    <a:lstStyle/>
                    <a:p>
                      <a:r>
                        <a:rPr lang="en-US" sz="1400" dirty="0"/>
                        <a:t>RT (ns)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P2P (mV)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FT (ns)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P2P (mV)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22140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r>
                        <a:rPr lang="en-US" sz="1400" dirty="0"/>
                        <a:t>3.34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933.6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9098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750DDE-E44A-DD69-BD62-D0411930B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567324"/>
              </p:ext>
            </p:extLst>
          </p:nvPr>
        </p:nvGraphicFramePr>
        <p:xfrm>
          <a:off x="9421130" y="11932"/>
          <a:ext cx="2731084" cy="12243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2771">
                  <a:extLst>
                    <a:ext uri="{9D8B030D-6E8A-4147-A177-3AD203B41FA5}">
                      <a16:colId xmlns:a16="http://schemas.microsoft.com/office/drawing/2014/main" val="1781307994"/>
                    </a:ext>
                  </a:extLst>
                </a:gridCol>
                <a:gridCol w="682771">
                  <a:extLst>
                    <a:ext uri="{9D8B030D-6E8A-4147-A177-3AD203B41FA5}">
                      <a16:colId xmlns:a16="http://schemas.microsoft.com/office/drawing/2014/main" val="2883881419"/>
                    </a:ext>
                  </a:extLst>
                </a:gridCol>
                <a:gridCol w="682771">
                  <a:extLst>
                    <a:ext uri="{9D8B030D-6E8A-4147-A177-3AD203B41FA5}">
                      <a16:colId xmlns:a16="http://schemas.microsoft.com/office/drawing/2014/main" val="500946811"/>
                    </a:ext>
                  </a:extLst>
                </a:gridCol>
                <a:gridCol w="682771">
                  <a:extLst>
                    <a:ext uri="{9D8B030D-6E8A-4147-A177-3AD203B41FA5}">
                      <a16:colId xmlns:a16="http://schemas.microsoft.com/office/drawing/2014/main" val="3420263580"/>
                    </a:ext>
                  </a:extLst>
                </a:gridCol>
              </a:tblGrid>
              <a:tr h="294823"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Rising Edge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Falling Edge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773408"/>
                  </a:ext>
                </a:extLst>
              </a:tr>
              <a:tr h="445083">
                <a:tc>
                  <a:txBody>
                    <a:bodyPr/>
                    <a:lstStyle/>
                    <a:p>
                      <a:r>
                        <a:rPr lang="en-US" sz="1400" dirty="0"/>
                        <a:t>RT (ns)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P2P (mV)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FT (ns)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P2P (mV)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22140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r>
                        <a:rPr lang="en-US" sz="1400" dirty="0"/>
                        <a:t>4.65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2848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9098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1EE842-E047-260E-1E31-AA96FD16F552}"/>
              </a:ext>
            </a:extLst>
          </p:cNvPr>
          <p:cNvSpPr txBox="1"/>
          <p:nvPr/>
        </p:nvSpPr>
        <p:spPr>
          <a:xfrm>
            <a:off x="86007" y="3600893"/>
            <a:ext cx="1914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Good Rising Edge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32323-27C2-5E03-BB5C-B192AD79EF5C}"/>
              </a:ext>
            </a:extLst>
          </p:cNvPr>
          <p:cNvSpPr txBox="1"/>
          <p:nvPr/>
        </p:nvSpPr>
        <p:spPr>
          <a:xfrm>
            <a:off x="74576" y="6225772"/>
            <a:ext cx="1969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Good Falling Edge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2AFA50-FE9A-AEC6-0EBD-01368CF03F83}"/>
              </a:ext>
            </a:extLst>
          </p:cNvPr>
          <p:cNvSpPr txBox="1"/>
          <p:nvPr/>
        </p:nvSpPr>
        <p:spPr>
          <a:xfrm>
            <a:off x="4149285" y="6215090"/>
            <a:ext cx="2275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Bad Cap Falling Edge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24F3E2-C540-B870-C9D8-EB1E2665DE73}"/>
              </a:ext>
            </a:extLst>
          </p:cNvPr>
          <p:cNvSpPr txBox="1"/>
          <p:nvPr/>
        </p:nvSpPr>
        <p:spPr>
          <a:xfrm>
            <a:off x="4186492" y="3565112"/>
            <a:ext cx="2220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Bad Cap Rising Edge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7B81A-FA11-D3DA-46E8-697AFE7D552D}"/>
              </a:ext>
            </a:extLst>
          </p:cNvPr>
          <p:cNvSpPr txBox="1"/>
          <p:nvPr/>
        </p:nvSpPr>
        <p:spPr>
          <a:xfrm>
            <a:off x="8383600" y="3588782"/>
            <a:ext cx="2199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Bad </a:t>
            </a:r>
            <a:r>
              <a:rPr lang="en-US" dirty="0" err="1">
                <a:solidFill>
                  <a:schemeClr val="bg1"/>
                </a:solidFill>
              </a:rPr>
              <a:t>Bad</a:t>
            </a:r>
            <a:r>
              <a:rPr lang="en-US" dirty="0">
                <a:solidFill>
                  <a:schemeClr val="bg1"/>
                </a:solidFill>
              </a:rPr>
              <a:t> Rising Edge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8AF2D-524E-45D7-1CDD-B17903D9D53C}"/>
              </a:ext>
            </a:extLst>
          </p:cNvPr>
          <p:cNvSpPr txBox="1"/>
          <p:nvPr/>
        </p:nvSpPr>
        <p:spPr>
          <a:xfrm>
            <a:off x="8283478" y="6154878"/>
            <a:ext cx="225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Bad </a:t>
            </a:r>
            <a:r>
              <a:rPr lang="en-US" dirty="0" err="1">
                <a:solidFill>
                  <a:schemeClr val="bg1"/>
                </a:solidFill>
              </a:rPr>
              <a:t>Bad</a:t>
            </a:r>
            <a:r>
              <a:rPr lang="en-US" dirty="0">
                <a:solidFill>
                  <a:schemeClr val="bg1"/>
                </a:solidFill>
              </a:rPr>
              <a:t> Falling Edge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487004-3124-ED7A-4B13-5FAE8A398BD1}"/>
              </a:ext>
            </a:extLst>
          </p:cNvPr>
          <p:cNvSpPr txBox="1"/>
          <p:nvPr/>
        </p:nvSpPr>
        <p:spPr>
          <a:xfrm>
            <a:off x="4149850" y="1218401"/>
            <a:ext cx="3967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Rising Edge: 1.7 x slower, 4.4x rail collapse!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A999B-C125-8AB2-55E6-A195823B803B}"/>
              </a:ext>
            </a:extLst>
          </p:cNvPr>
          <p:cNvSpPr txBox="1"/>
          <p:nvPr/>
        </p:nvSpPr>
        <p:spPr>
          <a:xfrm>
            <a:off x="8160313" y="1192777"/>
            <a:ext cx="39253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Rising Edge: 2.4x slower, 5.9x rail collapse!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3C916B-D51A-9FAE-1EF0-8E8CD12DF646}"/>
              </a:ext>
            </a:extLst>
          </p:cNvPr>
          <p:cNvSpPr txBox="1"/>
          <p:nvPr/>
        </p:nvSpPr>
        <p:spPr>
          <a:xfrm>
            <a:off x="8144531" y="1431699"/>
            <a:ext cx="39083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Falling Edge:  2.3xslower, 17x rail collapse!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4F6A8B-3C74-DA12-3279-E8FA76DE8813}"/>
              </a:ext>
            </a:extLst>
          </p:cNvPr>
          <p:cNvSpPr txBox="1"/>
          <p:nvPr/>
        </p:nvSpPr>
        <p:spPr>
          <a:xfrm>
            <a:off x="4124003" y="1450717"/>
            <a:ext cx="40799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Falling Edge: </a:t>
            </a:r>
            <a:r>
              <a:rPr lang="en-US" sz="1600"/>
              <a:t>0.99x slower, </a:t>
            </a:r>
            <a:r>
              <a:rPr lang="en-US" sz="1600" dirty="0"/>
              <a:t>6.6x rail collapse!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8" grpId="0"/>
      <p:bldP spid="3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292</Words>
  <Application>Microsoft Office PowerPoint</Application>
  <PresentationFormat>Widescreen</PresentationFormat>
  <Paragraphs>69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Lab 15 Findings Joseph Abroquah Data Collected: 10/03/2025</vt:lpstr>
      <vt:lpstr>Key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Abroquah</dc:creator>
  <cp:lastModifiedBy>Joseph Abroquah</cp:lastModifiedBy>
  <cp:revision>2</cp:revision>
  <dcterms:created xsi:type="dcterms:W3CDTF">2025-10-03T20:37:32Z</dcterms:created>
  <dcterms:modified xsi:type="dcterms:W3CDTF">2025-10-04T00:49:32Z</dcterms:modified>
</cp:coreProperties>
</file>